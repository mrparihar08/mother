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Executive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788920"/>
            <a:ext cx="11091672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88920"/>
            <a:ext cx="109728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84FC"/>
                </a:solidFill>
              </a:rPr>
              <a:t>💡 KEY TAKEAWAY
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AI adoption accelerated operational throughput by 45% across enterprise services.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KPI Performance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2601468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4185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084FC"/>
                </a:solidFill>
              </a:rPr>
              <a:t>$12.5M
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</a:rPr>
              <a:t>ARR Revenue</a:t>
            </a:r>
          </a:p>
          <a:p>
            <a:pPr algn="ctr"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</a:rPr>
              <a:t> +34% ↗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8708" y="1005840"/>
            <a:ext cx="2601468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0148" y="1143000"/>
            <a:ext cx="24185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084FC"/>
                </a:solidFill>
              </a:rPr>
              <a:t>99.99%
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</a:rPr>
              <a:t>SLA Uptime</a:t>
            </a:r>
          </a:p>
          <a:p>
            <a:pPr algn="ctr"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</a:rPr>
              <a:t> +0.5% ↗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005840"/>
            <a:ext cx="2601468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1143000"/>
            <a:ext cx="24185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084FC"/>
                </a:solidFill>
              </a:rPr>
              <a:t>450K
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</a:rPr>
              <a:t>Active Users</a:t>
            </a:r>
          </a:p>
          <a:p>
            <a:pPr algn="ctr"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</a:rPr>
              <a:t> +18% ↗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38844" y="1005840"/>
            <a:ext cx="2601468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0284" y="1143000"/>
            <a:ext cx="24185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084FC"/>
                </a:solidFill>
              </a:rPr>
              <a:t>&lt; 12ms
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</a:rPr>
              <a:t>API Latency</a:t>
            </a:r>
          </a:p>
          <a:p>
            <a:pPr algn="ctr">
              <a:spcBef>
                <a:spcPts val="400"/>
              </a:spcBef>
            </a:pPr>
            <a:r>
              <a:rPr sz="1000" b="1">
                <a:solidFill>
                  <a:srgbClr val="C084FC"/>
                </a:solidFill>
              </a:rPr>
              <a:t> -25% ↘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Strengths vs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5362956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0886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✅ STRENGTHS &amp; ADVANTAGES
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✔ High Horizontal Scalability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✔ Low Query Latency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✔ Zero Downtime Deployments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7356" y="1005840"/>
            <a:ext cx="5362956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4516" y="1143000"/>
            <a:ext cx="50886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</a:rPr>
              <a:t>❌ CHALLENGES &amp; CONSIDERATIONS
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✖ Initial Setup Overhead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✖ Cloud Migration Refactoring Effort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Strategic Release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12214" y="1170432"/>
            <a:ext cx="274320" cy="274320"/>
          </a:xfrm>
          <a:prstGeom prst="ellipse">
            <a:avLst/>
          </a:prstGeom>
          <a:solidFill>
            <a:srgbClr val="C084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01468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4185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Q1 2026
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Architecture &amp; Specs
</a:t>
            </a:r>
          </a:p>
          <a:p>
            <a:pPr algn="ctr">
              <a:spcBef>
                <a:spcPts val="400"/>
              </a:spcBef>
            </a:pPr>
            <a:r>
              <a:rPr sz="900" b="1">
                <a:solidFill>
                  <a:srgbClr val="10B981"/>
                </a:solidFill>
              </a:rPr>
              <a:t> [COMPLETED] </a:t>
            </a:r>
          </a:p>
        </p:txBody>
      </p:sp>
      <p:sp>
        <p:nvSpPr>
          <p:cNvPr id="8" name="Oval 7"/>
          <p:cNvSpPr/>
          <p:nvPr/>
        </p:nvSpPr>
        <p:spPr>
          <a:xfrm>
            <a:off x="4542282" y="1170432"/>
            <a:ext cx="274320" cy="274320"/>
          </a:xfrm>
          <a:prstGeom prst="ellipse">
            <a:avLst/>
          </a:prstGeom>
          <a:solidFill>
            <a:srgbClr val="C084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78708" y="1554480"/>
            <a:ext cx="2601468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0148" y="1645920"/>
            <a:ext cx="24185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Q2 2026
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Platform Core Build
</a:t>
            </a:r>
          </a:p>
          <a:p>
            <a:pPr algn="ctr">
              <a:spcBef>
                <a:spcPts val="400"/>
              </a:spcBef>
            </a:pPr>
            <a:r>
              <a:rPr sz="900" b="1">
                <a:solidFill>
                  <a:srgbClr val="3B82F6"/>
                </a:solidFill>
              </a:rPr>
              <a:t> [IN PROGRESS] </a:t>
            </a:r>
          </a:p>
        </p:txBody>
      </p:sp>
      <p:sp>
        <p:nvSpPr>
          <p:cNvPr id="11" name="Oval 10"/>
          <p:cNvSpPr/>
          <p:nvPr/>
        </p:nvSpPr>
        <p:spPr>
          <a:xfrm>
            <a:off x="7372350" y="1170432"/>
            <a:ext cx="274320" cy="274320"/>
          </a:xfrm>
          <a:prstGeom prst="ellipse">
            <a:avLst/>
          </a:prstGeom>
          <a:solidFill>
            <a:srgbClr val="C084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8776" y="1554480"/>
            <a:ext cx="2601468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1645920"/>
            <a:ext cx="24185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Q3 2026
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Market Beta Testing
</a:t>
            </a:r>
          </a:p>
          <a:p>
            <a:pPr algn="ctr">
              <a:spcBef>
                <a:spcPts val="400"/>
              </a:spcBef>
            </a:pPr>
            <a:r>
              <a:rPr sz="900" b="1">
                <a:solidFill>
                  <a:srgbClr val="94A3B8"/>
                </a:solidFill>
              </a:rPr>
              <a:t> [PLANNED] </a:t>
            </a:r>
          </a:p>
        </p:txBody>
      </p:sp>
      <p:sp>
        <p:nvSpPr>
          <p:cNvPr id="14" name="Oval 13"/>
          <p:cNvSpPr/>
          <p:nvPr/>
        </p:nvSpPr>
        <p:spPr>
          <a:xfrm>
            <a:off x="10202417" y="1170432"/>
            <a:ext cx="274320" cy="274320"/>
          </a:xfrm>
          <a:prstGeom prst="ellipse">
            <a:avLst/>
          </a:prstGeom>
          <a:solidFill>
            <a:srgbClr val="C084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38844" y="1554480"/>
            <a:ext cx="2601468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0284" y="1645920"/>
            <a:ext cx="24185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Q4 2026
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Global Enterprise Scale
</a:t>
            </a:r>
          </a:p>
          <a:p>
            <a:pPr algn="ctr">
              <a:spcBef>
                <a:spcPts val="400"/>
              </a:spcBef>
            </a:pPr>
            <a:r>
              <a:rPr sz="900" b="1">
                <a:solidFill>
                  <a:srgbClr val="94A3B8"/>
                </a:solidFill>
              </a:rPr>
              <a:t> [PLANNED]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Core API Specification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1672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24128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/>
              <a:t>🔴 🟡 🟢   </a:t>
            </a:r>
            <a:r>
              <a:rPr sz="1000" b="1">
                <a:solidFill>
                  <a:srgbClr val="94A3B8"/>
                </a:solidFill>
              </a:rPr>
              <a:t>api_router.py (PYTHON)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591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8FAFC"/>
                </a:solidFill>
                <a:latin typeface="Consolas"/>
              </a:rPr>
              <a:t>async def get_presentation_telemetry(job_id: str):</a:t>
            </a:r>
          </a:p>
          <a:p>
            <a:r>
              <a:rPr sz="1100" b="0">
                <a:solidFill>
                  <a:srgbClr val="F8FAFC"/>
                </a:solidFill>
                <a:latin typeface="Consolas"/>
              </a:rPr>
              <a:t>    result = await service.fetch(job_id)</a:t>
            </a:r>
          </a:p>
          <a:p>
            <a:r>
              <a:rPr sz="1100" b="0">
                <a:solidFill>
                  <a:srgbClr val="F8FAFC"/>
                </a:solidFill>
                <a:latin typeface="Consolas"/>
              </a:rPr>
              <a:t>    return {"status": "ok", "telemetry": result}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Keynote Presenter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167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280160"/>
            <a:ext cx="1097280" cy="1097280"/>
          </a:xfrm>
          <a:prstGeom prst="ellipse">
            <a:avLst/>
          </a:prstGeom>
          <a:solidFill>
            <a:srgbClr val="C084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0"/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188720"/>
            <a:ext cx="93543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84FC"/>
                </a:solidFill>
              </a:rPr>
              <a:t>Dr. Alex Vance
</a:t>
            </a:r>
          </a:p>
          <a:p>
            <a:r>
              <a:rPr sz="1200" b="1">
                <a:solidFill>
                  <a:srgbClr val="FFFFFF"/>
                </a:solidFill>
              </a:rPr>
              <a:t>Chief AI Architect &amp; Principal Engineer
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• Lead Architect at Antigravity AI Systems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• 15+ Years Distributed Systems &amp; AI Infrastructure Experience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• Author of Scalable Agentic Systems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