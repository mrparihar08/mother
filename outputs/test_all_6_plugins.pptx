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9441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000" b="1">
                <a:solidFill>
                  <a:srgbClr val="FFFFFF"/>
                </a:solidFill>
              </a:rPr>
              <a:t>Executive Takeaways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2788920"/>
            <a:ext cx="11091672" cy="12801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2788920"/>
            <a:ext cx="109728" cy="128016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88036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C084FC"/>
                </a:solidFill>
              </a:rPr>
              <a:t>💡 KEY TAKEAWAY
</a:t>
            </a:r>
          </a:p>
          <a:p>
            <a:pPr>
              <a:spcBef>
                <a:spcPts val="400"/>
              </a:spcBef>
            </a:pPr>
            <a:r>
              <a:rPr sz="1300" b="0">
                <a:solidFill>
                  <a:srgbClr val="FFFFFF"/>
                </a:solidFill>
              </a:rPr>
              <a:t>AI adoption accelerated operational throughput by 45% across enterprise services.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2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KPI Performance Dashboard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$12.5M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ARR Revenue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+34% ↗ 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78708" y="100584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70148" y="114300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99.99%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SLA Uptime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+0.5% ↗ 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8776" y="100584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0216" y="114300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450K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Active Users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10B981"/>
                </a:solidFill>
              </a:rPr>
              <a:t> +18% ↗ 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038844" y="1005840"/>
            <a:ext cx="2601468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30284" y="114300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C084FC"/>
                </a:solidFill>
              </a:rPr>
              <a:t>&lt; 12ms
</a:t>
            </a:r>
          </a:p>
          <a:p>
            <a:pPr algn="ctr">
              <a:spcBef>
                <a:spcPts val="200"/>
              </a:spcBef>
            </a:pPr>
            <a:r>
              <a:rPr sz="1100" b="1">
                <a:solidFill>
                  <a:srgbClr val="FFFFFF"/>
                </a:solidFill>
              </a:rPr>
              <a:t>API Latency</a:t>
            </a:r>
          </a:p>
          <a:p>
            <a:pPr algn="ctr">
              <a:spcBef>
                <a:spcPts val="400"/>
              </a:spcBef>
            </a:pPr>
            <a:r>
              <a:rPr sz="1000" b="1">
                <a:solidFill>
                  <a:srgbClr val="C084FC"/>
                </a:solidFill>
              </a:rPr>
              <a:t> -25% ↘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3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Strengths vs Challenges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5362956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143000"/>
            <a:ext cx="508863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10B981"/>
                </a:solidFill>
              </a:rPr>
              <a:t>✅ STRENGTHS &amp; ADVANTAGES
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High Horizontal Scalability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Low Query Latency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✔ Zero Downtime Deployments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77356" y="1005840"/>
            <a:ext cx="5362956" cy="29260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16" y="1143000"/>
            <a:ext cx="5088636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</a:rPr>
              <a:t>❌ CHALLENGES &amp; CONSIDERATIONS
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✖ Initial Setup Overhead</a:t>
            </a:r>
          </a:p>
          <a:p>
            <a:pPr>
              <a:spcBef>
                <a:spcPts val="400"/>
              </a:spcBef>
            </a:pPr>
            <a:r>
              <a:rPr sz="1100" b="0">
                <a:solidFill>
                  <a:srgbClr val="FFFFFF"/>
                </a:solidFill>
              </a:rPr>
              <a:t>✖ Cloud Migration Refactoring Effort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4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Strategic Release Roadmap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10725912" cy="45720"/>
          </a:xfrm>
          <a:prstGeom prst="rect">
            <a:avLst/>
          </a:prstGeom>
          <a:solidFill>
            <a:srgbClr val="C08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712214" y="117043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Q1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Architecture &amp; Specs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10B981"/>
                </a:solidFill>
              </a:rPr>
              <a:t> [COMPLETED] </a:t>
            </a:r>
          </a:p>
        </p:txBody>
      </p:sp>
      <p:sp>
        <p:nvSpPr>
          <p:cNvPr id="8" name="Oval 7"/>
          <p:cNvSpPr/>
          <p:nvPr/>
        </p:nvSpPr>
        <p:spPr>
          <a:xfrm>
            <a:off x="4542282" y="117043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78708" y="155448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70148" y="164592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Q2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Platform Core Build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3B82F6"/>
                </a:solidFill>
              </a:rPr>
              <a:t> [IN PROGRESS] </a:t>
            </a:r>
          </a:p>
        </p:txBody>
      </p:sp>
      <p:sp>
        <p:nvSpPr>
          <p:cNvPr id="11" name="Oval 10"/>
          <p:cNvSpPr/>
          <p:nvPr/>
        </p:nvSpPr>
        <p:spPr>
          <a:xfrm>
            <a:off x="7372350" y="117043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08776" y="155448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64592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Q3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Market Beta Testing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94A3B8"/>
                </a:solidFill>
              </a:rPr>
              <a:t> [PLANNED] </a:t>
            </a:r>
          </a:p>
        </p:txBody>
      </p:sp>
      <p:sp>
        <p:nvSpPr>
          <p:cNvPr id="14" name="Oval 13"/>
          <p:cNvSpPr/>
          <p:nvPr/>
        </p:nvSpPr>
        <p:spPr>
          <a:xfrm>
            <a:off x="10202417" y="1170432"/>
            <a:ext cx="274320" cy="27432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9038844" y="1554480"/>
            <a:ext cx="2601468" cy="15544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30284" y="1645920"/>
            <a:ext cx="2418588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C084FC"/>
                </a:solidFill>
              </a:rPr>
              <a:t>Q4 2026
</a:t>
            </a:r>
          </a:p>
          <a:p>
            <a:pPr algn="ctr">
              <a:spcBef>
                <a:spcPts val="200"/>
              </a:spcBef>
            </a:pPr>
            <a:r>
              <a:rPr sz="1100" b="0">
                <a:solidFill>
                  <a:srgbClr val="FFFFFF"/>
                </a:solidFill>
              </a:rPr>
              <a:t>Global Enterprise Scale
</a:t>
            </a:r>
          </a:p>
          <a:p>
            <a:pPr algn="ctr">
              <a:spcBef>
                <a:spcPts val="400"/>
              </a:spcBef>
            </a:pPr>
            <a:r>
              <a:rPr sz="900" b="1">
                <a:solidFill>
                  <a:srgbClr val="94A3B8"/>
                </a:solidFill>
              </a:rPr>
              <a:t> [PLANNED]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5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Core API Specification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1091672" cy="2926080"/>
          </a:xfrm>
          <a:prstGeom prst="roundRect">
            <a:avLst/>
          </a:prstGeom>
          <a:solidFill>
            <a:srgbClr val="0F172A"/>
          </a:solidFill>
          <a:ln w="1905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005840"/>
            <a:ext cx="11091672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24128"/>
            <a:ext cx="1081735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0"/>
              <a:t>🔴 🟡 🟢   </a:t>
            </a:r>
            <a:r>
              <a:rPr sz="1000" b="1">
                <a:solidFill>
                  <a:srgbClr val="94A3B8"/>
                </a:solidFill>
              </a:rPr>
              <a:t>api_router.py (PYTHON)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72591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F8FAFC"/>
                </a:solidFill>
                <a:latin typeface="Consolas"/>
              </a:rPr>
              <a:t>async def get_presentation_telemetry(job_id: str):</a:t>
            </a:r>
          </a:p>
          <a:p>
            <a:r>
              <a:rPr sz="1100" b="0">
                <a:solidFill>
                  <a:srgbClr val="F8FAFC"/>
                </a:solidFill>
                <a:latin typeface="Consolas"/>
              </a:rPr>
              <a:t>    result = await service.fetch(job_id)</a:t>
            </a:r>
          </a:p>
          <a:p>
            <a:r>
              <a:rPr sz="1100" b="0">
                <a:solidFill>
                  <a:srgbClr val="F8FAFC"/>
                </a:solidFill>
                <a:latin typeface="Consolas"/>
              </a:rPr>
              <a:t>    return {"status": "ok", "telemetry": result}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31104B"/>
            </a:gs>
          </a:gsLst>
          <a:lin scaled="0" ang="135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5695" y="6400800"/>
            <a:ext cx="1828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800" b="1">
                <a:solidFill>
                  <a:srgbClr val="C084FC"/>
                </a:solidFill>
              </a:defRPr>
            </a:pPr>
            <a:r>
              <a:t>SLIDE 6 OF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09441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00" b="1">
                <a:solidFill>
                  <a:srgbClr val="FFFFFF"/>
                </a:solidFill>
              </a:rPr>
              <a:t>Keynote Presenter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005840"/>
            <a:ext cx="11091672" cy="201168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280160"/>
            <a:ext cx="1097280" cy="1097280"/>
          </a:xfrm>
          <a:prstGeom prst="ellipse">
            <a:avLst/>
          </a:prstGeom>
          <a:solidFill>
            <a:srgbClr val="C08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0"/>
              <a:t>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03120" y="1188720"/>
            <a:ext cx="935431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084FC"/>
                </a:solidFill>
              </a:rPr>
              <a:t>Dr. Alex Vance
</a:t>
            </a:r>
          </a:p>
          <a:p>
            <a:r>
              <a:rPr sz="1200" b="1">
                <a:solidFill>
                  <a:srgbClr val="FFFFFF"/>
                </a:solidFill>
              </a:rPr>
              <a:t>Chief AI Architect &amp; Principal Engineer
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Lead Architect at Antigravity AI Systems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15+ Years Distributed Systems &amp; AI Infrastructure Experience</a:t>
            </a:r>
          </a:p>
          <a:p>
            <a:pPr>
              <a:spcBef>
                <a:spcPts val="300"/>
              </a:spcBef>
            </a:pPr>
            <a:r>
              <a:rPr sz="1100" b="0">
                <a:solidFill>
                  <a:srgbClr val="FFFFFF"/>
                </a:solidFill>
              </a:rPr>
              <a:t>• Author of Scalable Agentic Systems Research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