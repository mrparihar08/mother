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31104B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9441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Executive Takeaways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2697480"/>
            <a:ext cx="11091672" cy="1280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2697480"/>
            <a:ext cx="109728" cy="1280160"/>
          </a:xfrm>
          <a:prstGeom prst="rect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88920"/>
            <a:ext cx="107259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C084FC"/>
                </a:solidFill>
              </a:rPr>
              <a:t>💡 KEY TAKEAWAY
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AI adoption accelerated operational throughput by 45% across enterprise services.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31104B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5695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C084FC"/>
                </a:solidFill>
              </a:defRPr>
            </a:pPr>
            <a:r>
              <a:t>SLIDE 2 OF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KPI Performance Dashboard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914400"/>
            <a:ext cx="2601468" cy="16459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2418588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C084FC"/>
                </a:solidFill>
              </a:rPr>
              <a:t>$12.5M
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</a:rPr>
              <a:t>ARR Revenue</a:t>
            </a:r>
          </a:p>
          <a:p>
            <a:pPr algn="ctr">
              <a:spcBef>
                <a:spcPts val="400"/>
              </a:spcBef>
            </a:pPr>
            <a:r>
              <a:rPr sz="1000" b="1">
                <a:solidFill>
                  <a:srgbClr val="10B981"/>
                </a:solidFill>
              </a:rPr>
              <a:t> +34% ↗ 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78708" y="914400"/>
            <a:ext cx="2601468" cy="16459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0148" y="1051560"/>
            <a:ext cx="2418588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C084FC"/>
                </a:solidFill>
              </a:rPr>
              <a:t>99.99%
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</a:rPr>
              <a:t>SLA Uptime</a:t>
            </a:r>
          </a:p>
          <a:p>
            <a:pPr algn="ctr">
              <a:spcBef>
                <a:spcPts val="400"/>
              </a:spcBef>
            </a:pPr>
            <a:r>
              <a:rPr sz="1000" b="1">
                <a:solidFill>
                  <a:srgbClr val="10B981"/>
                </a:solidFill>
              </a:rPr>
              <a:t> +0.5% ↗ 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08776" y="914400"/>
            <a:ext cx="2601468" cy="16459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216" y="1051560"/>
            <a:ext cx="2418588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C084FC"/>
                </a:solidFill>
              </a:rPr>
              <a:t>450K
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</a:rPr>
              <a:t>Active Users</a:t>
            </a:r>
          </a:p>
          <a:p>
            <a:pPr algn="ctr">
              <a:spcBef>
                <a:spcPts val="400"/>
              </a:spcBef>
            </a:pPr>
            <a:r>
              <a:rPr sz="1000" b="1">
                <a:solidFill>
                  <a:srgbClr val="10B981"/>
                </a:solidFill>
              </a:rPr>
              <a:t> +18% ↗ 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38844" y="914400"/>
            <a:ext cx="2601468" cy="16459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30284" y="1051560"/>
            <a:ext cx="2418588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C084FC"/>
                </a:solidFill>
              </a:rPr>
              <a:t>&lt; 12ms
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</a:rPr>
              <a:t>API Latency</a:t>
            </a:r>
          </a:p>
          <a:p>
            <a:pPr algn="ctr">
              <a:spcBef>
                <a:spcPts val="400"/>
              </a:spcBef>
            </a:pPr>
            <a:r>
              <a:rPr sz="1000" b="1">
                <a:solidFill>
                  <a:srgbClr val="C084FC"/>
                </a:solidFill>
              </a:rPr>
              <a:t> -25% ↘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31104B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5695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C084FC"/>
                </a:solidFill>
              </a:defRPr>
            </a:pPr>
            <a:r>
              <a:t>SLIDE 3 OF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Strengths vs Challenges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914400"/>
            <a:ext cx="5362956" cy="29260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5088636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0B981"/>
                </a:solidFill>
              </a:rPr>
              <a:t>✅ STRENGTHS &amp; ADVANTAGES
</a:t>
            </a:r>
          </a:p>
          <a:p>
            <a:pPr>
              <a:spcBef>
                <a:spcPts val="400"/>
              </a:spcBef>
            </a:pPr>
            <a:r>
              <a:rPr sz="1100" b="0">
                <a:solidFill>
                  <a:srgbClr val="FFFFFF"/>
                </a:solidFill>
              </a:rPr>
              <a:t>✔ High Horizontal Scalability</a:t>
            </a:r>
          </a:p>
          <a:p>
            <a:pPr>
              <a:spcBef>
                <a:spcPts val="400"/>
              </a:spcBef>
            </a:pPr>
            <a:r>
              <a:rPr sz="1100" b="0">
                <a:solidFill>
                  <a:srgbClr val="FFFFFF"/>
                </a:solidFill>
              </a:rPr>
              <a:t>✔ Low Query Latency</a:t>
            </a:r>
          </a:p>
          <a:p>
            <a:pPr>
              <a:spcBef>
                <a:spcPts val="400"/>
              </a:spcBef>
            </a:pPr>
            <a:r>
              <a:rPr sz="1100" b="0">
                <a:solidFill>
                  <a:srgbClr val="FFFFFF"/>
                </a:solidFill>
              </a:rPr>
              <a:t>✔ Zero Downtime Deployments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77356" y="914400"/>
            <a:ext cx="5362956" cy="29260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14516" y="1051560"/>
            <a:ext cx="5088636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</a:rPr>
              <a:t>❌ CHALLENGES &amp; CONSIDERATIONS
</a:t>
            </a:r>
          </a:p>
          <a:p>
            <a:pPr>
              <a:spcBef>
                <a:spcPts val="400"/>
              </a:spcBef>
            </a:pPr>
            <a:r>
              <a:rPr sz="1100" b="0">
                <a:solidFill>
                  <a:srgbClr val="FFFFFF"/>
                </a:solidFill>
              </a:rPr>
              <a:t>✖ Initial Setup Overhead</a:t>
            </a:r>
          </a:p>
          <a:p>
            <a:pPr>
              <a:spcBef>
                <a:spcPts val="400"/>
              </a:spcBef>
            </a:pPr>
            <a:r>
              <a:rPr sz="1100" b="0">
                <a:solidFill>
                  <a:srgbClr val="FFFFFF"/>
                </a:solidFill>
              </a:rPr>
              <a:t>✖ Cloud Migration Refactoring Effort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31104B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5695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C084FC"/>
                </a:solidFill>
              </a:defRPr>
            </a:pPr>
            <a:r>
              <a:t>SLIDE 4 OF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Strategic Release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725912" cy="45720"/>
          </a:xfrm>
          <a:prstGeom prst="rect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712214" y="1078992"/>
            <a:ext cx="274320" cy="274320"/>
          </a:xfrm>
          <a:prstGeom prst="ellipse">
            <a:avLst/>
          </a:prstGeom>
          <a:solidFill>
            <a:srgbClr val="C084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2601468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2418588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C084FC"/>
                </a:solidFill>
              </a:rPr>
              <a:t>Q1 2026
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</a:rPr>
              <a:t>Architecture &amp; Specs
</a:t>
            </a:r>
          </a:p>
          <a:p>
            <a:pPr algn="ctr">
              <a:spcBef>
                <a:spcPts val="400"/>
              </a:spcBef>
            </a:pPr>
            <a:r>
              <a:rPr sz="900" b="1">
                <a:solidFill>
                  <a:srgbClr val="10B981"/>
                </a:solidFill>
              </a:rPr>
              <a:t> [COMPLETED] </a:t>
            </a:r>
          </a:p>
        </p:txBody>
      </p:sp>
      <p:sp>
        <p:nvSpPr>
          <p:cNvPr id="8" name="Oval 7"/>
          <p:cNvSpPr/>
          <p:nvPr/>
        </p:nvSpPr>
        <p:spPr>
          <a:xfrm>
            <a:off x="4542282" y="1078992"/>
            <a:ext cx="274320" cy="274320"/>
          </a:xfrm>
          <a:prstGeom prst="ellipse">
            <a:avLst/>
          </a:prstGeom>
          <a:solidFill>
            <a:srgbClr val="C084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378708" y="1463040"/>
            <a:ext cx="2601468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0148" y="1554480"/>
            <a:ext cx="2418588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C084FC"/>
                </a:solidFill>
              </a:rPr>
              <a:t>Q2 2026
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</a:rPr>
              <a:t>Platform Core Build
</a:t>
            </a:r>
          </a:p>
          <a:p>
            <a:pPr algn="ctr">
              <a:spcBef>
                <a:spcPts val="400"/>
              </a:spcBef>
            </a:pPr>
            <a:r>
              <a:rPr sz="900" b="1">
                <a:solidFill>
                  <a:srgbClr val="3B82F6"/>
                </a:solidFill>
              </a:rPr>
              <a:t> [IN PROGRESS] </a:t>
            </a:r>
          </a:p>
        </p:txBody>
      </p:sp>
      <p:sp>
        <p:nvSpPr>
          <p:cNvPr id="11" name="Oval 10"/>
          <p:cNvSpPr/>
          <p:nvPr/>
        </p:nvSpPr>
        <p:spPr>
          <a:xfrm>
            <a:off x="7372350" y="1078992"/>
            <a:ext cx="274320" cy="274320"/>
          </a:xfrm>
          <a:prstGeom prst="ellipse">
            <a:avLst/>
          </a:prstGeom>
          <a:solidFill>
            <a:srgbClr val="C084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08776" y="1463040"/>
            <a:ext cx="2601468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216" y="1554480"/>
            <a:ext cx="2418588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C084FC"/>
                </a:solidFill>
              </a:rPr>
              <a:t>Q3 2026
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</a:rPr>
              <a:t>Market Beta Testing
</a:t>
            </a:r>
          </a:p>
          <a:p>
            <a:pPr algn="ctr">
              <a:spcBef>
                <a:spcPts val="400"/>
              </a:spcBef>
            </a:pPr>
            <a:r>
              <a:rPr sz="900" b="1">
                <a:solidFill>
                  <a:srgbClr val="94A3B8"/>
                </a:solidFill>
              </a:rPr>
              <a:t> [PLANNED] </a:t>
            </a:r>
          </a:p>
        </p:txBody>
      </p:sp>
      <p:sp>
        <p:nvSpPr>
          <p:cNvPr id="14" name="Oval 13"/>
          <p:cNvSpPr/>
          <p:nvPr/>
        </p:nvSpPr>
        <p:spPr>
          <a:xfrm>
            <a:off x="10202417" y="1078992"/>
            <a:ext cx="274320" cy="274320"/>
          </a:xfrm>
          <a:prstGeom prst="ellipse">
            <a:avLst/>
          </a:prstGeom>
          <a:solidFill>
            <a:srgbClr val="C084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038844" y="1463040"/>
            <a:ext cx="2601468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0284" y="1554480"/>
            <a:ext cx="2418588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C084FC"/>
                </a:solidFill>
              </a:rPr>
              <a:t>Q4 2026
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</a:rPr>
              <a:t>Global Enterprise Scale
</a:t>
            </a:r>
          </a:p>
          <a:p>
            <a:pPr algn="ctr">
              <a:spcBef>
                <a:spcPts val="400"/>
              </a:spcBef>
            </a:pPr>
            <a:r>
              <a:rPr sz="900" b="1">
                <a:solidFill>
                  <a:srgbClr val="94A3B8"/>
                </a:solidFill>
              </a:rPr>
              <a:t> [PLANNED]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31104B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5695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C084FC"/>
                </a:solidFill>
              </a:defRPr>
            </a:pPr>
            <a:r>
              <a:t>SLIDE 5 OF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Core API Specification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914400"/>
            <a:ext cx="11091672" cy="29260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91672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932688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/>
              <a:t>🔴 🟡 🟢   </a:t>
            </a:r>
            <a:r>
              <a:rPr sz="1000" b="1">
                <a:solidFill>
                  <a:srgbClr val="94A3B8"/>
                </a:solidFill>
              </a:rPr>
              <a:t>api_router.py (PYTHON)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10725912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8FAFC"/>
                </a:solidFill>
                <a:latin typeface="Consolas"/>
              </a:rPr>
              <a:t>async def get_presentation_telemetry(job_id: str):</a:t>
            </a:r>
          </a:p>
          <a:p>
            <a:r>
              <a:rPr sz="1100" b="0">
                <a:solidFill>
                  <a:srgbClr val="F8FAFC"/>
                </a:solidFill>
                <a:latin typeface="Consolas"/>
              </a:rPr>
              <a:t>    result = await service.fetch(job_id)</a:t>
            </a:r>
          </a:p>
          <a:p>
            <a:r>
              <a:rPr sz="1100" b="0">
                <a:solidFill>
                  <a:srgbClr val="F8FAFC"/>
                </a:solidFill>
                <a:latin typeface="Consolas"/>
              </a:rPr>
              <a:t>    return {"status": "ok", "telemetry": result}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31104B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5695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C084FC"/>
                </a:solidFill>
              </a:defRPr>
            </a:pPr>
            <a:r>
              <a:t>SLIDE 6 OF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Keynote Presenter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914400"/>
            <a:ext cx="11091672" cy="2011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59" y="1188720"/>
            <a:ext cx="1097280" cy="1097280"/>
          </a:xfrm>
          <a:prstGeom prst="ellipse">
            <a:avLst/>
          </a:prstGeom>
          <a:solidFill>
            <a:srgbClr val="C084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0"/>
              <a:t>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03120" y="1097280"/>
            <a:ext cx="935431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C084FC"/>
                </a:solidFill>
              </a:rPr>
              <a:t>Dr. Alex Vance
</a:t>
            </a:r>
          </a:p>
          <a:p>
            <a:r>
              <a:rPr sz="1200" b="1">
                <a:solidFill>
                  <a:srgbClr val="FFFFFF"/>
                </a:solidFill>
              </a:rPr>
              <a:t>Chief AI Architect &amp; Principal Engineer
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FFFFFF"/>
                </a:solidFill>
              </a:rPr>
              <a:t>• Lead Architect at Antigravity AI Systems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FFFFFF"/>
                </a:solidFill>
              </a:rPr>
              <a:t>• 15+ Years Distributed Systems &amp; AI Infrastructure Experience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FFFFFF"/>
                </a:solidFill>
              </a:rPr>
              <a:t>• Author of Scalable Agentic Systems Research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