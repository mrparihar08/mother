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31104B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9441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0" b="1">
                <a:solidFill>
                  <a:srgbClr val="F8FAFC"/>
                </a:solidFill>
              </a:rPr>
              <a:t>Artificial Intelligence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743200"/>
            <a:ext cx="1109441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0">
                <a:solidFill>
                  <a:srgbClr val="94A3B8"/>
                </a:solidFill>
              </a:rPr>
              <a:t>Executive Analysis &amp; Strategic Overview of Artificial Intelligence Strategy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31104B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905695" y="64008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C084FC"/>
                </a:solidFill>
              </a:defRPr>
            </a:pPr>
            <a:r>
              <a:t>SLIDE 2 OF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F8FAFC"/>
                </a:solidFill>
              </a:rPr>
              <a:t>Presentation Overview &amp; 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091672" cy="4434840"/>
          </a:xfrm>
          <a:prstGeom prst="rect">
            <a:avLst/>
          </a:prstGeom>
          <a:noFill/>
        </p:spPr>
        <p:txBody>
          <a:bodyPr wrap="square" lIns="228600" rIns="228600" tIns="109728" bIns="109728">
            <a:noAutofit/>
          </a:bodyPr>
          <a:lstStyle/>
          <a:p>
            <a:pPr algn="l">
              <a:spcAft>
                <a:spcPts val="200"/>
              </a:spcAft>
            </a:pPr>
            <a:r>
              <a:rPr sz="1600" b="0">
                <a:solidFill>
                  <a:srgbClr val="F8FAFC"/>
                </a:solidFill>
              </a:rPr>
              <a:t>•  Executive Context &amp; Business Scope</a:t>
            </a:r>
          </a:p>
          <a:p>
            <a:pPr algn="l">
              <a:spcAft>
                <a:spcPts val="200"/>
              </a:spcAft>
            </a:pPr>
            <a:r>
              <a:rPr sz="1600" b="0">
                <a:solidFill>
                  <a:srgbClr val="F8FAFC"/>
                </a:solidFill>
              </a:rPr>
              <a:t>•  Market Opportunity &amp; Demographics</a:t>
            </a:r>
          </a:p>
          <a:p>
            <a:pPr algn="l">
              <a:spcAft>
                <a:spcPts val="200"/>
              </a:spcAft>
            </a:pPr>
            <a:r>
              <a:rPr sz="1600" b="0">
                <a:solidFill>
                  <a:srgbClr val="F8FAFC"/>
                </a:solidFill>
              </a:rPr>
              <a:t>•  Executive Summary &amp; 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31104B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905695" y="64008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C084FC"/>
                </a:solidFill>
              </a:defRPr>
            </a:pPr>
            <a:r>
              <a:t>SLIDE 3 OF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F8FAFC"/>
                </a:solidFill>
              </a:rPr>
              <a:t>Executive Context &amp; Business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5120640" cy="3474720"/>
          </a:xfrm>
          <a:prstGeom prst="rect">
            <a:avLst/>
          </a:prstGeom>
          <a:noFill/>
        </p:spPr>
        <p:txBody>
          <a:bodyPr wrap="square" lIns="228600" rIns="228600" tIns="109728" bIns="109728">
            <a:noAutofit/>
          </a:bodyPr>
          <a:lstStyle/>
          <a:p>
            <a:pPr algn="l"/>
            <a:r>
              <a:rPr sz="1800" b="0">
                <a:solidFill>
                  <a:srgbClr val="F8FAFC"/>
                </a:solidFill>
              </a:rPr>
              <a:t>Executive domain analysis and strategic context introducing key principles of Artificial Intelligence Strategy.</a:t>
            </a:r>
          </a:p>
        </p:txBody>
      </p:sp>
      <p:pic>
        <p:nvPicPr>
          <p:cNvPr id="5" name="Picture 4" descr="download_67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685925"/>
            <a:ext cx="5303520" cy="298323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126480" y="4714875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C084FC"/>
                </a:solidFill>
              </a:rPr>
              <a:t>fig:- Executive Context &amp; Business Scope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31104B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905695" y="64008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C084FC"/>
                </a:solidFill>
              </a:defRPr>
            </a:pPr>
            <a:r>
              <a:t>SLIDE 4 OF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F8FAFC"/>
                </a:solidFill>
              </a:rPr>
              <a:t>Market Opportunity &amp; Demographics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0" y="1417320"/>
            <a:ext cx="5303520" cy="4434840"/>
          </a:xfrm>
          <a:prstGeom prst="rect">
            <a:avLst/>
          </a:prstGeom>
          <a:noFill/>
        </p:spPr>
        <p:txBody>
          <a:bodyPr wrap="square" lIns="228600" rIns="228600" tIns="109728" bIns="109728">
            <a:noAutofit/>
          </a:bodyPr>
          <a:lstStyle/>
          <a:p>
            <a:pPr algn="l">
              <a:spcAft>
                <a:spcPts val="200"/>
              </a:spcAft>
            </a:pPr>
            <a:r>
              <a:rPr sz="1600" b="0">
                <a:solidFill>
                  <a:srgbClr val="F8FAFC"/>
                </a:solidFill>
              </a:rPr>
              <a:t>✦  Key aspect of market opportunity &amp; demographics in relation to Artificial Intelligence Strategy</a:t>
            </a:r>
          </a:p>
          <a:p>
            <a:pPr algn="l">
              <a:spcAft>
                <a:spcPts val="200"/>
              </a:spcAft>
            </a:pPr>
            <a:r>
              <a:rPr sz="1600" b="0">
                <a:solidFill>
                  <a:srgbClr val="F8FAFC"/>
                </a:solidFill>
              </a:rPr>
              <a:t>✦  Critical operational considerations and guidelines</a:t>
            </a:r>
          </a:p>
          <a:p>
            <a:pPr algn="l">
              <a:spcAft>
                <a:spcPts val="200"/>
              </a:spcAft>
            </a:pPr>
            <a:r>
              <a:rPr sz="1600" b="0">
                <a:solidFill>
                  <a:srgbClr val="F8FAFC"/>
                </a:solidFill>
              </a:rPr>
              <a:t>✦  Strategic takeaway and audience outcome</a:t>
            </a:r>
          </a:p>
        </p:txBody>
      </p:sp>
      <p:pic>
        <p:nvPicPr>
          <p:cNvPr id="5" name="Picture 4" descr="download_67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737360"/>
            <a:ext cx="5120640" cy="2880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4663440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C084FC"/>
                </a:solidFill>
              </a:rPr>
              <a:t>fig:- Market Opportunity &amp; Demographics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31104B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905695" y="64008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C084FC"/>
                </a:solidFill>
              </a:defRPr>
            </a:pPr>
            <a:r>
              <a:t>SLIDE 5 OF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F8FAFC"/>
                </a:solidFill>
              </a:rPr>
              <a:t>Executive Summary &amp;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5120640" cy="3474720"/>
          </a:xfrm>
          <a:prstGeom prst="rect">
            <a:avLst/>
          </a:prstGeom>
          <a:noFill/>
        </p:spPr>
        <p:txBody>
          <a:bodyPr wrap="square" lIns="228600" rIns="228600" tIns="109728" bIns="109728">
            <a:noAutofit/>
          </a:bodyPr>
          <a:lstStyle/>
          <a:p>
            <a:pPr algn="l"/>
            <a:r>
              <a:rPr sz="1800" b="0">
                <a:solidFill>
                  <a:srgbClr val="F8FAFC"/>
                </a:solidFill>
              </a:rPr>
              <a:t>Executive domain analysis and strategic context introducing key principles of Artificial Intelligence Strategy.</a:t>
            </a:r>
          </a:p>
        </p:txBody>
      </p:sp>
      <p:pic>
        <p:nvPicPr>
          <p:cNvPr id="5" name="Picture 4" descr="download_67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685925"/>
            <a:ext cx="5303520" cy="298323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126480" y="4714875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C084FC"/>
                </a:solidFill>
              </a:rPr>
              <a:t>fig:- Executive Summary &amp; Conclusion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31104B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9441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0" b="1">
                <a:solidFill>
                  <a:srgbClr val="F8FAFC"/>
                </a:solidFill>
              </a:rPr>
              <a:t>Thank You &amp; Q&amp;A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