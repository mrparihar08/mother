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Autonomous Driving Syste Performance Index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Phase 1 (Baseline)</c:v>
                </c:pt>
                <c:pt idx="1">
                  <c:v>Phase 2 (Adoption)</c:v>
                </c:pt>
                <c:pt idx="2">
                  <c:v>Phase 3 (Scaling)</c:v>
                </c:pt>
                <c:pt idx="3">
                  <c:v>Phase 4 (Maturity)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28.5</c:v>
                </c:pt>
                <c:pt idx="1">
                  <c:v>54.0</c:v>
                </c:pt>
                <c:pt idx="2">
                  <c:v>82.5</c:v>
                </c:pt>
                <c:pt idx="3">
                  <c:v>120.0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txPr>
        <a:bodyPr/>
        <a:lstStyle/>
        <a:p>
          <a:pPr>
            <a:defRPr sz="1000">
              <a:solidFill>
                <a:srgbClr val="FFFFFF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Autonomous Driving Systems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7432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94A3B8"/>
                </a:solidFill>
              </a:rPr>
              <a:t>Executive Analysis &amp; Strategic Overview of Autonomous Driving Systems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2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Presentation Overview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1672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1.  Autonomous Driving Systems Architecture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2.  Problem Statement &amp; Technical Challenges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3.  Caching Strategy &amp; In-Memory Optimization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4.  Scalability, Auto-Scaling &amp; Load Balancing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5.  Third-Party Integrations &amp; Webhooks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6.  Future Scope &amp; Tech Roadmap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7.  Executive Summary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3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Introduction to Autonomous Driving Systems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Autonomous Driving Systems Architecture.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Introduction to Autonomous Driving Systems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4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Problem Statement &amp; Technical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Key aspect of problem statement &amp; technical challenges in relation to Autonomous Driving Systems Architecture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Critical operational considerations and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Strategic takeaway and audience outcome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Problem Statement &amp; Technical Challenges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5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Caching Strategy &amp; In-Memory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Autonomous Driving Systems Architecture.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Caching Strategy &amp; In-Memory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6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Scalability, Auto-Scaling &amp; Load Balancing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069848" y="1005840"/>
          <a:ext cx="100584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7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Third-Party Integrations &amp; Webhooks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9167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621792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Criterion / Feature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Option A (Baseline)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Option B (Advanced)</a:t>
                      </a:r>
                    </a:p>
                  </a:txBody>
                  <a:tcPr anchor="ctr">
                    <a:solidFill>
                      <a:srgbClr val="1E3A8A"/>
                    </a:solidFill>
                  </a:tcPr>
                </a:tc>
              </a:tr>
              <a:tr h="621792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Performance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Standard Baseline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High Throughput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21792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Scalability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Single-Region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Global Multi-Cluster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621792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Security &amp; Compliance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Basic Protocol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Zero-Trust Enterprise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621792"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Cost Efficiency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Moderate Overhead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 wrap="square" lIns="73152" rIns="73152" tIns="54864" bIns="54864"/>
                    <a:lstStyle/>
                    <a:p>
                      <a:pPr algn="l"/>
                      <a:r>
                        <a:rPr sz="1100" b="0">
                          <a:solidFill>
                            <a:srgbClr val="FFFFFF"/>
                          </a:solidFill>
                        </a:rPr>
                        <a:t>Optimized TCO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8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Future Scope &amp; Tech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417320"/>
            <a:ext cx="5303520" cy="443484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Key aspect of future scope &amp; tech roadmap in relation to Autonomous Driving Systems Architecture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Critical operational considerations and guidelines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</a:rPr>
              <a:t>✦  Strategic takeaway and audience outcome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466344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Future Scope &amp; Tech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5695" y="64008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C084FC"/>
                </a:solidFill>
              </a:defRPr>
            </a:pPr>
            <a:r>
              <a:t>SLIDE 9 OF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</a:rPr>
              <a:t>Executive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120640" cy="3474720"/>
          </a:xfrm>
          <a:prstGeom prst="rect">
            <a:avLst/>
          </a:prstGeom>
          <a:noFill/>
        </p:spPr>
        <p:txBody>
          <a:bodyPr wrap="square" lIns="228600" rIns="228600" tIns="109728" bIns="109728">
            <a:no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Executive domain analysis and strategic context introducing key principles of Autonomous Driving Systems Architecture.</a:t>
            </a:r>
          </a:p>
        </p:txBody>
      </p:sp>
      <p:pic>
        <p:nvPicPr>
          <p:cNvPr id="5" name="Picture 4" descr="download_6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85925"/>
            <a:ext cx="5303520" cy="29832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714875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C084FC"/>
                </a:solidFill>
              </a:rPr>
              <a:t>fig:- Executive Summary &amp; Conclusion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944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solidFill>
                  <a:srgbClr val="FFFFFF"/>
                </a:solidFill>
              </a:rP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