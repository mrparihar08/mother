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Market Size in Billions USD</c:v>
                </c:pt>
              </c:strCache>
            </c:strRef>
          </c:tx>
          <c:cat>
            <c:strRef>
              <c:f>Sheet1!$A$2:$A$5</c:f>
              <c:strCache>
                <c:ptCount val="4"/>
                <c:pt idx="0">
                  <c:v>Phase 1</c:v>
                </c:pt>
                <c:pt idx="1">
                  <c:v>Phase 2</c:v>
                </c:pt>
                <c:pt idx="2">
                  <c:v>Phase 3</c:v>
                </c:pt>
                <c:pt idx="3">
                  <c:v>Phase 4</c:v>
                </c:pt>
              </c:strCache>
            </c:strRef>
          </c:cat>
          <c:val>
            <c:numRef>
              <c:f>Sheet1!$B$2:$B$5</c:f>
              <c:numCache>
                <c:formatCode>General</c:formatCode>
                <c:ptCount val="4"/>
                <c:pt idx="0">
                  <c:v>0.0</c:v>
                </c:pt>
                <c:pt idx="1">
                  <c:v>0.0</c:v>
                </c:pt>
                <c:pt idx="2">
                  <c:v>0.0</c:v>
                </c:pt>
                <c:pt idx="3">
                  <c:v>0.0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the shift from experimental AI pilots to enterprise-grade integrations across global health systems.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Focus on both the strong growth tailwinds and the regulatory hurdles that health systems encounter today.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with high-impact predictions for the end of the decade, emphasizing autonomous systems and hyper-personalization.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72A"/>
            </a:gs>
            <a:gs pos="100000">
              <a:srgbClr val="31104B"/>
            </a:gs>
          </a:gsLst>
          <a:lin scaled="0" ang="13500000"/>
        </a:gradFill>
        <a:effectLst/>
      </p:bgPr>
    </p:bg>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731520" y="457200"/>
            <a:ext cx="10241280" cy="320040"/>
          </a:xfrm>
          <a:prstGeom prst="rect">
            <a:avLst/>
          </a:prstGeom>
          <a:noFill/>
        </p:spPr>
        <p:txBody>
          <a:bodyPr wrap="none">
            <a:spAutoFit/>
          </a:bodyPr>
          <a:lstStyle/>
          <a:p>
            <a:pPr>
              <a:defRPr sz="1000" b="1">
                <a:solidFill>
                  <a:srgbClr val="C084FC"/>
                </a:solidFill>
              </a:defRPr>
            </a:pPr>
            <a:r>
              <a:t>SLIDE 1 OF 6</a:t>
            </a:r>
          </a:p>
        </p:txBody>
      </p:sp>
      <p:sp>
        <p:nvSpPr>
          <p:cNvPr id="4" name="TextBox 3"/>
          <p:cNvSpPr txBox="1"/>
          <p:nvPr/>
        </p:nvSpPr>
        <p:spPr>
          <a:xfrm>
            <a:off x="731520" y="868680"/>
            <a:ext cx="10241280" cy="777240"/>
          </a:xfrm>
          <a:prstGeom prst="rect">
            <a:avLst/>
          </a:prstGeom>
          <a:noFill/>
        </p:spPr>
        <p:txBody>
          <a:bodyPr wrap="square">
            <a:spAutoFit/>
          </a:bodyPr>
          <a:lstStyle/>
          <a:p>
            <a:pPr>
              <a:defRPr sz="3000" b="1">
                <a:solidFill>
                  <a:srgbClr val="F8FAFC"/>
                </a:solidFill>
              </a:defRPr>
            </a:pPr>
            <a:r>
              <a:t>Artificial Intelligence in Healthcare</a:t>
            </a:r>
          </a:p>
        </p:txBody>
      </p:sp>
      <p:sp>
        <p:nvSpPr>
          <p:cNvPr id="5" name="TextBox 4"/>
          <p:cNvSpPr txBox="1"/>
          <p:nvPr/>
        </p:nvSpPr>
        <p:spPr>
          <a:xfrm>
            <a:off x="731520" y="1737360"/>
            <a:ext cx="10241280" cy="502920"/>
          </a:xfrm>
          <a:prstGeom prst="rect">
            <a:avLst/>
          </a:prstGeom>
          <a:noFill/>
        </p:spPr>
        <p:txBody>
          <a:bodyPr wrap="square">
            <a:spAutoFit/>
          </a:bodyPr>
          <a:lstStyle/>
          <a:p>
            <a:pPr>
              <a:defRPr sz="1600">
                <a:solidFill>
                  <a:srgbClr val="94A3B8"/>
                </a:solidFill>
              </a:defRPr>
            </a:pPr>
            <a:r>
              <a:t>Market Trends, Strategic Comparison, and Future Predictions</a:t>
            </a:r>
          </a:p>
        </p:txBody>
      </p:sp>
      <p:sp>
        <p:nvSpPr>
          <p:cNvPr id="6" name="TextBox 5"/>
          <p:cNvSpPr txBox="1"/>
          <p:nvPr/>
        </p:nvSpPr>
        <p:spPr>
          <a:xfrm>
            <a:off x="731520" y="2468879"/>
            <a:ext cx="10241280" cy="457200"/>
          </a:xfrm>
          <a:prstGeom prst="rect">
            <a:avLst/>
          </a:prstGeom>
          <a:noFill/>
        </p:spPr>
        <p:txBody>
          <a:bodyPr wrap="square">
            <a:spAutoFit/>
          </a:bodyPr>
          <a:lstStyle/>
          <a:p>
            <a:pPr>
              <a:defRPr sz="2000" b="1">
                <a:solidFill>
                  <a:srgbClr val="C084FC"/>
                </a:solidFill>
              </a:defRPr>
            </a:pPr>
            <a:r>
              <a:t>Market Trends, Strategic Comparison, and Future Predictions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72A"/>
            </a:gs>
            <a:gs pos="100000">
              <a:srgbClr val="31104B"/>
            </a:gs>
          </a:gsLst>
          <a:lin scaled="0" ang="13500000"/>
        </a:gradFill>
        <a:effectLst/>
      </p:bgPr>
    </p:bg>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731520" y="457200"/>
            <a:ext cx="10241280" cy="320040"/>
          </a:xfrm>
          <a:prstGeom prst="rect">
            <a:avLst/>
          </a:prstGeom>
          <a:noFill/>
        </p:spPr>
        <p:txBody>
          <a:bodyPr wrap="none">
            <a:spAutoFit/>
          </a:bodyPr>
          <a:lstStyle/>
          <a:p>
            <a:pPr>
              <a:defRPr sz="1000" b="1">
                <a:solidFill>
                  <a:srgbClr val="C084FC"/>
                </a:solidFill>
              </a:defRPr>
            </a:pPr>
            <a:r>
              <a:t>SLIDE 2 OF 6</a:t>
            </a:r>
          </a:p>
        </p:txBody>
      </p:sp>
      <p:sp>
        <p:nvSpPr>
          <p:cNvPr id="5" name="TextBox 4"/>
          <p:cNvSpPr txBox="1"/>
          <p:nvPr/>
        </p:nvSpPr>
        <p:spPr>
          <a:xfrm>
            <a:off x="731520" y="868680"/>
            <a:ext cx="10241280" cy="777240"/>
          </a:xfrm>
          <a:prstGeom prst="rect">
            <a:avLst/>
          </a:prstGeom>
          <a:noFill/>
        </p:spPr>
        <p:txBody>
          <a:bodyPr wrap="square">
            <a:spAutoFit/>
          </a:bodyPr>
          <a:lstStyle/>
          <a:p>
            <a:pPr>
              <a:defRPr sz="2400" b="1">
                <a:solidFill>
                  <a:srgbClr val="F8FAFC"/>
                </a:solidFill>
              </a:defRPr>
            </a:pPr>
            <a:r>
              <a:t>Executive Summary</a:t>
            </a:r>
          </a:p>
        </p:txBody>
      </p:sp>
      <p:sp>
        <p:nvSpPr>
          <p:cNvPr id="6" name="TextBox 5"/>
          <p:cNvSpPr txBox="1"/>
          <p:nvPr/>
        </p:nvSpPr>
        <p:spPr>
          <a:xfrm>
            <a:off x="731520" y="1874519"/>
            <a:ext cx="10241280" cy="1188720"/>
          </a:xfrm>
          <a:prstGeom prst="rect">
            <a:avLst/>
          </a:prstGeom>
          <a:noFill/>
        </p:spPr>
        <p:txBody>
          <a:bodyPr wrap="square" lIns="36576" rIns="36576" tIns="18288" bIns="18288">
            <a:normAutofit/>
          </a:bodyPr>
          <a:lstStyle/>
          <a:p>
            <a:r>
              <a:rPr sz="1300" b="0">
                <a:solidFill>
                  <a:srgbClr val="F8FAFC"/>
                </a:solidFill>
              </a:rPr>
              <a:t>The global AI in healthcare market is experiencing unprecedented growth, driven by advances in deep learning, massive health datasets, and the urgent need for operational efficiency. Modern medical institutions are moving from experimental pilots to enterprise deployments, fundamentally revolutionizing clinical decision-making and administrative workflows.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72A"/>
            </a:gs>
            <a:gs pos="100000">
              <a:srgbClr val="31104B"/>
            </a:gs>
          </a:gsLst>
          <a:lin scaled="0" ang="13500000"/>
        </a:gra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731520" y="457200"/>
            <a:ext cx="10241280" cy="320040"/>
          </a:xfrm>
          <a:prstGeom prst="rect">
            <a:avLst/>
          </a:prstGeom>
          <a:noFill/>
        </p:spPr>
        <p:txBody>
          <a:bodyPr wrap="none">
            <a:spAutoFit/>
          </a:bodyPr>
          <a:lstStyle/>
          <a:p>
            <a:pPr>
              <a:defRPr sz="1000" b="1">
                <a:solidFill>
                  <a:srgbClr val="C084FC"/>
                </a:solidFill>
              </a:defRPr>
            </a:pPr>
            <a:r>
              <a:t>SLIDE 3 OF 6</a:t>
            </a:r>
          </a:p>
        </p:txBody>
      </p:sp>
      <p:sp>
        <p:nvSpPr>
          <p:cNvPr id="5" name="TextBox 4"/>
          <p:cNvSpPr txBox="1"/>
          <p:nvPr/>
        </p:nvSpPr>
        <p:spPr>
          <a:xfrm>
            <a:off x="731520" y="868680"/>
            <a:ext cx="10241280" cy="777240"/>
          </a:xfrm>
          <a:prstGeom prst="rect">
            <a:avLst/>
          </a:prstGeom>
          <a:noFill/>
        </p:spPr>
        <p:txBody>
          <a:bodyPr wrap="square">
            <a:spAutoFit/>
          </a:bodyPr>
          <a:lstStyle/>
          <a:p>
            <a:pPr>
              <a:defRPr sz="2400" b="1">
                <a:solidFill>
                  <a:srgbClr val="F8FAFC"/>
                </a:solidFill>
              </a:defRPr>
            </a:pPr>
            <a:r>
              <a:t>Global Market Size Growth</a:t>
            </a:r>
          </a:p>
        </p:txBody>
      </p:sp>
      <p:graphicFrame>
        <p:nvGraphicFramePr>
          <p:cNvPr id="6" name="Chart 5"/>
          <p:cNvGraphicFramePr>
            <a:graphicFrameLocks noGrp="1"/>
          </p:cNvGraphicFramePr>
          <p:nvPr/>
        </p:nvGraphicFramePr>
        <p:xfrm>
          <a:off x="731520" y="1874519"/>
          <a:ext cx="7772400" cy="3474720"/>
        </p:xfrm>
        <a:graphic>
          <a:graphicData uri="http://schemas.openxmlformats.org/drawingml/2006/chart">
            <c:chart xmlns:c="http://schemas.openxmlformats.org/drawingml/2006/chart" r:id="rId2"/>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72A"/>
            </a:gs>
            <a:gs pos="100000">
              <a:srgbClr val="31104B"/>
            </a:gs>
          </a:gsLst>
          <a:lin scaled="0" ang="13500000"/>
        </a:gradFill>
        <a:effectLst/>
      </p:bgPr>
    </p:bg>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731520" y="457200"/>
            <a:ext cx="10241280" cy="320040"/>
          </a:xfrm>
          <a:prstGeom prst="rect">
            <a:avLst/>
          </a:prstGeom>
          <a:noFill/>
        </p:spPr>
        <p:txBody>
          <a:bodyPr wrap="none">
            <a:spAutoFit/>
          </a:bodyPr>
          <a:lstStyle/>
          <a:p>
            <a:pPr>
              <a:defRPr sz="1000" b="1">
                <a:solidFill>
                  <a:srgbClr val="C084FC"/>
                </a:solidFill>
              </a:defRPr>
            </a:pPr>
            <a:r>
              <a:t>SLIDE 4 OF 6</a:t>
            </a:r>
          </a:p>
        </p:txBody>
      </p:sp>
      <p:sp>
        <p:nvSpPr>
          <p:cNvPr id="5" name="TextBox 4"/>
          <p:cNvSpPr txBox="1"/>
          <p:nvPr/>
        </p:nvSpPr>
        <p:spPr>
          <a:xfrm>
            <a:off x="731520" y="868680"/>
            <a:ext cx="10241280" cy="777240"/>
          </a:xfrm>
          <a:prstGeom prst="rect">
            <a:avLst/>
          </a:prstGeom>
          <a:noFill/>
        </p:spPr>
        <p:txBody>
          <a:bodyPr wrap="square">
            <a:spAutoFit/>
          </a:bodyPr>
          <a:lstStyle/>
          <a:p>
            <a:pPr>
              <a:defRPr sz="2400" b="1">
                <a:solidFill>
                  <a:srgbClr val="F8FAFC"/>
                </a:solidFill>
              </a:defRPr>
            </a:pPr>
            <a:r>
              <a:t>Strategic Application Comparison</a:t>
            </a:r>
          </a:p>
        </p:txBody>
      </p:sp>
      <p:graphicFrame>
        <p:nvGraphicFramePr>
          <p:cNvPr id="6" name="Table 5"/>
          <p:cNvGraphicFramePr>
            <a:graphicFrameLocks noGrp="1"/>
          </p:cNvGraphicFramePr>
          <p:nvPr/>
        </p:nvGraphicFramePr>
        <p:xfrm>
          <a:off x="731520" y="1874519"/>
          <a:ext cx="10241280" cy="2926080"/>
        </p:xfrm>
        <a:graphic>
          <a:graphicData uri="http://schemas.openxmlformats.org/drawingml/2006/table">
            <a:tbl>
              <a:tblPr firstRow="1" bandRow="1">
                <a:tableStyleId>{5C22544A-7EE6-4342-B048-85BDC9FD1C3A}</a:tableStyleId>
              </a:tblPr>
              <a:tblGrid>
                <a:gridCol w="2560320"/>
                <a:gridCol w="2560320"/>
                <a:gridCol w="2560320"/>
                <a:gridCol w="2560320"/>
              </a:tblGrid>
              <a:tr h="585216">
                <a:tc>
                  <a:txBody>
                    <a:bodyPr/>
                    <a:lstStyle/>
                    <a:p>
                      <a:r>
                        <a:rPr sz="1200" b="1">
                          <a:solidFill>
                            <a:srgbClr val="0F172A"/>
                          </a:solidFill>
                        </a:rPr>
                        <a:t>Application Area</a:t>
                      </a:r>
                    </a:p>
                  </a:txBody>
                  <a:tcPr>
                    <a:solidFill>
                      <a:srgbClr val="C084FC"/>
                    </a:solidFill>
                  </a:tcPr>
                </a:tc>
                <a:tc>
                  <a:txBody>
                    <a:bodyPr/>
                    <a:lstStyle/>
                    <a:p>
                      <a:r>
                        <a:rPr sz="1200" b="1">
                          <a:solidFill>
                            <a:srgbClr val="0F172A"/>
                          </a:solidFill>
                        </a:rPr>
                        <a:t>Primary Technology</a:t>
                      </a:r>
                    </a:p>
                  </a:txBody>
                  <a:tcPr>
                    <a:solidFill>
                      <a:srgbClr val="C084FC"/>
                    </a:solidFill>
                  </a:tcPr>
                </a:tc>
                <a:tc>
                  <a:txBody>
                    <a:bodyPr/>
                    <a:lstStyle/>
                    <a:p>
                      <a:r>
                        <a:rPr sz="1200" b="1">
                          <a:solidFill>
                            <a:srgbClr val="0F172A"/>
                          </a:solidFill>
                        </a:rPr>
                        <a:t>Primary Benefit</a:t>
                      </a:r>
                    </a:p>
                  </a:txBody>
                  <a:tcPr>
                    <a:solidFill>
                      <a:srgbClr val="C084FC"/>
                    </a:solidFill>
                  </a:tcPr>
                </a:tc>
                <a:tc>
                  <a:txBody>
                    <a:bodyPr/>
                    <a:lstStyle/>
                    <a:p>
                      <a:r>
                        <a:rPr sz="1200" b="1">
                          <a:solidFill>
                            <a:srgbClr val="0F172A"/>
                          </a:solidFill>
                        </a:rPr>
                        <a:t>Implementation Maturity</a:t>
                      </a:r>
                    </a:p>
                  </a:txBody>
                  <a:tcPr>
                    <a:solidFill>
                      <a:srgbClr val="C084FC"/>
                    </a:solidFill>
                  </a:tcPr>
                </a:tc>
              </a:tr>
              <a:tr h="585216">
                <a:tc>
                  <a:txBody>
                    <a:bodyPr/>
                    <a:lstStyle/>
                    <a:p>
                      <a:r>
                        <a:rPr sz="1000" b="0">
                          <a:solidFill>
                            <a:srgbClr val="FFFFFF"/>
                          </a:solidFill>
                        </a:rPr>
                        <a:t>Medical Imaging</a:t>
                      </a:r>
                    </a:p>
                  </a:txBody>
                  <a:tcPr/>
                </a:tc>
                <a:tc>
                  <a:txBody>
                    <a:bodyPr/>
                    <a:lstStyle/>
                    <a:p>
                      <a:r>
                        <a:rPr sz="1000" b="0">
                          <a:solidFill>
                            <a:srgbClr val="FFFFFF"/>
                          </a:solidFill>
                        </a:rPr>
                        <a:t>Computer Vision</a:t>
                      </a:r>
                    </a:p>
                  </a:txBody>
                  <a:tcPr/>
                </a:tc>
                <a:tc>
                  <a:txBody>
                    <a:bodyPr/>
                    <a:lstStyle/>
                    <a:p>
                      <a:r>
                        <a:rPr sz="1000" b="0">
                          <a:solidFill>
                            <a:srgbClr val="FFFFFF"/>
                          </a:solidFill>
                        </a:rPr>
                        <a:t>Early Detection &amp; High Accuracy</a:t>
                      </a:r>
                    </a:p>
                  </a:txBody>
                  <a:tcPr/>
                </a:tc>
                <a:tc>
                  <a:txBody>
                    <a:bodyPr/>
                    <a:lstStyle/>
                    <a:p>
                      <a:r>
                        <a:rPr sz="1000" b="0">
                          <a:solidFill>
                            <a:srgbClr val="FFFFFF"/>
                          </a:solidFill>
                        </a:rPr>
                        <a:t>High</a:t>
                      </a:r>
                    </a:p>
                  </a:txBody>
                  <a:tcPr/>
                </a:tc>
              </a:tr>
              <a:tr h="585216">
                <a:tc>
                  <a:txBody>
                    <a:bodyPr/>
                    <a:lstStyle/>
                    <a:p>
                      <a:r>
                        <a:rPr sz="1000" b="0">
                          <a:solidFill>
                            <a:srgbClr val="FFFFFF"/>
                          </a:solidFill>
                        </a:rPr>
                        <a:t>Drug Discovery</a:t>
                      </a:r>
                    </a:p>
                  </a:txBody>
                  <a:tcPr/>
                </a:tc>
                <a:tc>
                  <a:txBody>
                    <a:bodyPr/>
                    <a:lstStyle/>
                    <a:p>
                      <a:r>
                        <a:rPr sz="1000" b="0">
                          <a:solidFill>
                            <a:srgbClr val="FFFFFF"/>
                          </a:solidFill>
                        </a:rPr>
                        <a:t>Generative AI &amp; ML</a:t>
                      </a:r>
                    </a:p>
                  </a:txBody>
                  <a:tcPr/>
                </a:tc>
                <a:tc>
                  <a:txBody>
                    <a:bodyPr/>
                    <a:lstStyle/>
                    <a:p>
                      <a:r>
                        <a:rPr sz="1000" b="0">
                          <a:solidFill>
                            <a:srgbClr val="FFFFFF"/>
                          </a:solidFill>
                        </a:rPr>
                        <a:t>Reduced R&amp;D Timelines</a:t>
                      </a:r>
                    </a:p>
                  </a:txBody>
                  <a:tcPr/>
                </a:tc>
                <a:tc>
                  <a:txBody>
                    <a:bodyPr/>
                    <a:lstStyle/>
                    <a:p>
                      <a:r>
                        <a:rPr sz="1000" b="0">
                          <a:solidFill>
                            <a:srgbClr val="FFFFFF"/>
                          </a:solidFill>
                        </a:rPr>
                        <a:t>Medium</a:t>
                      </a:r>
                    </a:p>
                  </a:txBody>
                  <a:tcPr/>
                </a:tc>
              </a:tr>
              <a:tr h="585216">
                <a:tc>
                  <a:txBody>
                    <a:bodyPr/>
                    <a:lstStyle/>
                    <a:p>
                      <a:r>
                        <a:rPr sz="1000" b="0">
                          <a:solidFill>
                            <a:srgbClr val="FFFFFF"/>
                          </a:solidFill>
                        </a:rPr>
                        <a:t>Surgical Robotics</a:t>
                      </a:r>
                    </a:p>
                  </a:txBody>
                  <a:tcPr/>
                </a:tc>
                <a:tc>
                  <a:txBody>
                    <a:bodyPr/>
                    <a:lstStyle/>
                    <a:p>
                      <a:r>
                        <a:rPr sz="1000" b="0">
                          <a:solidFill>
                            <a:srgbClr val="FFFFFF"/>
                          </a:solidFill>
                        </a:rPr>
                        <a:t>Kinematics &amp; Vision</a:t>
                      </a:r>
                    </a:p>
                  </a:txBody>
                  <a:tcPr/>
                </a:tc>
                <a:tc>
                  <a:txBody>
                    <a:bodyPr/>
                    <a:lstStyle/>
                    <a:p>
                      <a:r>
                        <a:rPr sz="1000" b="0">
                          <a:solidFill>
                            <a:srgbClr val="FFFFFF"/>
                          </a:solidFill>
                        </a:rPr>
                        <a:t>Precision &amp; Minimal Invasiveness</a:t>
                      </a:r>
                    </a:p>
                  </a:txBody>
                  <a:tcPr/>
                </a:tc>
                <a:tc>
                  <a:txBody>
                    <a:bodyPr/>
                    <a:lstStyle/>
                    <a:p>
                      <a:r>
                        <a:rPr sz="1000" b="0">
                          <a:solidFill>
                            <a:srgbClr val="FFFFFF"/>
                          </a:solidFill>
                        </a:rPr>
                        <a:t>High</a:t>
                      </a:r>
                    </a:p>
                  </a:txBody>
                  <a:tcPr/>
                </a:tc>
              </a:tr>
              <a:tr h="585216">
                <a:tc>
                  <a:txBody>
                    <a:bodyPr/>
                    <a:lstStyle/>
                    <a:p>
                      <a:r>
                        <a:rPr sz="1000" b="0">
                          <a:solidFill>
                            <a:srgbClr val="FFFFFF"/>
                          </a:solidFill>
                        </a:rPr>
                        <a:t>Administrative Workflow</a:t>
                      </a:r>
                    </a:p>
                  </a:txBody>
                  <a:tcPr/>
                </a:tc>
                <a:tc>
                  <a:txBody>
                    <a:bodyPr/>
                    <a:lstStyle/>
                    <a:p>
                      <a:r>
                        <a:rPr sz="1000" b="0">
                          <a:solidFill>
                            <a:srgbClr val="FFFFFF"/>
                          </a:solidFill>
                        </a:rPr>
                        <a:t>Natural Language Processing</a:t>
                      </a:r>
                    </a:p>
                  </a:txBody>
                  <a:tcPr/>
                </a:tc>
                <a:tc>
                  <a:txBody>
                    <a:bodyPr/>
                    <a:lstStyle/>
                    <a:p>
                      <a:r>
                        <a:rPr sz="1000" b="0">
                          <a:solidFill>
                            <a:srgbClr val="FFFFFF"/>
                          </a:solidFill>
                        </a:rPr>
                        <a:t>Reduced Clinician Burnout</a:t>
                      </a:r>
                    </a:p>
                  </a:txBody>
                  <a:tcPr/>
                </a:tc>
                <a:tc>
                  <a:txBody>
                    <a:bodyPr/>
                    <a:lstStyle/>
                    <a:p>
                      <a:r>
                        <a:rPr sz="1000" b="0">
                          <a:solidFill>
                            <a:srgbClr val="FFFFFF"/>
                          </a:solidFill>
                        </a:rPr>
                        <a:t>Very High</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72A"/>
            </a:gs>
            <a:gs pos="100000">
              <a:srgbClr val="31104B"/>
            </a:gs>
          </a:gsLst>
          <a:lin scaled="0" ang="13500000"/>
        </a:gradFill>
        <a:effectLst/>
      </p:bgPr>
    </p:bg>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731520" y="457200"/>
            <a:ext cx="10241280" cy="320040"/>
          </a:xfrm>
          <a:prstGeom prst="rect">
            <a:avLst/>
          </a:prstGeom>
          <a:noFill/>
        </p:spPr>
        <p:txBody>
          <a:bodyPr wrap="none">
            <a:spAutoFit/>
          </a:bodyPr>
          <a:lstStyle/>
          <a:p>
            <a:pPr>
              <a:defRPr sz="1000" b="1">
                <a:solidFill>
                  <a:srgbClr val="C084FC"/>
                </a:solidFill>
              </a:defRPr>
            </a:pPr>
            <a:r>
              <a:t>SLIDE 5 OF 6</a:t>
            </a:r>
          </a:p>
        </p:txBody>
      </p:sp>
      <p:sp>
        <p:nvSpPr>
          <p:cNvPr id="5" name="TextBox 4"/>
          <p:cNvSpPr txBox="1"/>
          <p:nvPr/>
        </p:nvSpPr>
        <p:spPr>
          <a:xfrm>
            <a:off x="731520" y="868680"/>
            <a:ext cx="10241280" cy="777240"/>
          </a:xfrm>
          <a:prstGeom prst="rect">
            <a:avLst/>
          </a:prstGeom>
          <a:noFill/>
        </p:spPr>
        <p:txBody>
          <a:bodyPr wrap="square">
            <a:spAutoFit/>
          </a:bodyPr>
          <a:lstStyle/>
          <a:p>
            <a:pPr>
              <a:defRPr sz="2400" b="1">
                <a:solidFill>
                  <a:srgbClr val="F8FAFC"/>
                </a:solidFill>
              </a:defRPr>
            </a:pPr>
            <a:r>
              <a:t>Key Drivers &amp; Adoption Challenges</a:t>
            </a:r>
          </a:p>
        </p:txBody>
      </p:sp>
      <p:sp>
        <p:nvSpPr>
          <p:cNvPr id="6" name="TextBox 5"/>
          <p:cNvSpPr txBox="1"/>
          <p:nvPr/>
        </p:nvSpPr>
        <p:spPr>
          <a:xfrm>
            <a:off x="731520" y="1874519"/>
            <a:ext cx="10241280" cy="731520"/>
          </a:xfrm>
          <a:prstGeom prst="rect">
            <a:avLst/>
          </a:prstGeom>
          <a:noFill/>
        </p:spPr>
        <p:txBody>
          <a:bodyPr wrap="square" lIns="36576" rIns="36576" tIns="18288" bIns="18288">
            <a:normAutofit/>
          </a:bodyPr>
          <a:lstStyle/>
          <a:p>
            <a:r>
              <a:rPr sz="1600" b="0">
                <a:solidFill>
                  <a:srgbClr val="F8FAFC"/>
                </a:solidFill>
              </a:rPr>
              <a:t>While adoption is accelerating rapidly, healthcare providers must navigate complex integration environments and regulatory frameworks to maximize return on investment.</a:t>
            </a:r>
          </a:p>
        </p:txBody>
      </p:sp>
      <p:sp>
        <p:nvSpPr>
          <p:cNvPr id="7" name="TextBox 6"/>
          <p:cNvSpPr txBox="1"/>
          <p:nvPr/>
        </p:nvSpPr>
        <p:spPr>
          <a:xfrm>
            <a:off x="731520" y="2743199"/>
            <a:ext cx="10241280" cy="1042416"/>
          </a:xfrm>
          <a:prstGeom prst="rect">
            <a:avLst/>
          </a:prstGeom>
          <a:noFill/>
        </p:spPr>
        <p:txBody>
          <a:bodyPr wrap="square" lIns="36576" rIns="36576" tIns="18288" bIns="18288">
            <a:normAutofit/>
          </a:bodyPr>
          <a:lstStyle/>
          <a:p>
            <a:pPr>
              <a:spcAft>
                <a:spcPts val="400"/>
              </a:spcAft>
            </a:pPr>
            <a:r>
              <a:rPr sz="1400" b="0">
                <a:solidFill>
                  <a:srgbClr val="F8FAFC"/>
                </a:solidFill>
              </a:rPr>
              <a:t>•  Proliferation of multimodal data including genomic, imaging, and EHR sources</a:t>
            </a:r>
          </a:p>
          <a:p>
            <a:pPr>
              <a:spcAft>
                <a:spcPts val="400"/>
              </a:spcAft>
            </a:pPr>
            <a:r>
              <a:rPr sz="1400" b="0">
                <a:solidFill>
                  <a:srgbClr val="F8FAFC"/>
                </a:solidFill>
              </a:rPr>
              <a:t>•  Increasing regulatory scrutiny around data privacy, algorithmic bias, and validation</a:t>
            </a:r>
          </a:p>
          <a:p>
            <a:pPr>
              <a:spcAft>
                <a:spcPts val="400"/>
              </a:spcAft>
            </a:pPr>
            <a:r>
              <a:rPr sz="1400" b="0">
                <a:solidFill>
                  <a:srgbClr val="F8FAFC"/>
                </a:solidFill>
              </a:rPr>
              <a:t>•  High demand for ambient generative AI tools that automate clinical documentation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72A"/>
            </a:gs>
            <a:gs pos="100000">
              <a:srgbClr val="31104B"/>
            </a:gs>
          </a:gsLst>
          <a:lin scaled="0" ang="13500000"/>
        </a:gradFill>
        <a:effectLst/>
      </p:bgPr>
    </p:bg>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TextBox 3"/>
          <p:cNvSpPr txBox="1"/>
          <p:nvPr/>
        </p:nvSpPr>
        <p:spPr>
          <a:xfrm>
            <a:off x="731520" y="457200"/>
            <a:ext cx="10241280" cy="320040"/>
          </a:xfrm>
          <a:prstGeom prst="rect">
            <a:avLst/>
          </a:prstGeom>
          <a:noFill/>
        </p:spPr>
        <p:txBody>
          <a:bodyPr wrap="none">
            <a:spAutoFit/>
          </a:bodyPr>
          <a:lstStyle/>
          <a:p>
            <a:pPr>
              <a:defRPr sz="1000" b="1">
                <a:solidFill>
                  <a:srgbClr val="C084FC"/>
                </a:solidFill>
              </a:defRPr>
            </a:pPr>
            <a:r>
              <a:t>SLIDE 6 OF 6</a:t>
            </a:r>
          </a:p>
        </p:txBody>
      </p:sp>
      <p:sp>
        <p:nvSpPr>
          <p:cNvPr id="5" name="TextBox 4"/>
          <p:cNvSpPr txBox="1"/>
          <p:nvPr/>
        </p:nvSpPr>
        <p:spPr>
          <a:xfrm>
            <a:off x="731520" y="868680"/>
            <a:ext cx="10241280" cy="777240"/>
          </a:xfrm>
          <a:prstGeom prst="rect">
            <a:avLst/>
          </a:prstGeom>
          <a:noFill/>
        </p:spPr>
        <p:txBody>
          <a:bodyPr wrap="square">
            <a:spAutoFit/>
          </a:bodyPr>
          <a:lstStyle/>
          <a:p>
            <a:pPr>
              <a:defRPr sz="2400" b="1">
                <a:solidFill>
                  <a:srgbClr val="F8FAFC"/>
                </a:solidFill>
              </a:defRPr>
            </a:pPr>
            <a:r>
              <a:t>Future Predictions: 2025–2030</a:t>
            </a:r>
          </a:p>
        </p:txBody>
      </p:sp>
      <p:sp>
        <p:nvSpPr>
          <p:cNvPr id="6" name="TextBox 5"/>
          <p:cNvSpPr txBox="1"/>
          <p:nvPr/>
        </p:nvSpPr>
        <p:spPr>
          <a:xfrm>
            <a:off x="731520" y="1874519"/>
            <a:ext cx="10241280" cy="1042416"/>
          </a:xfrm>
          <a:prstGeom prst="rect">
            <a:avLst/>
          </a:prstGeom>
          <a:noFill/>
        </p:spPr>
        <p:txBody>
          <a:bodyPr wrap="square" lIns="36576" rIns="36576" tIns="18288" bIns="18288">
            <a:normAutofit/>
          </a:bodyPr>
          <a:lstStyle/>
          <a:p>
            <a:pPr>
              <a:spcAft>
                <a:spcPts val="400"/>
              </a:spcAft>
            </a:pPr>
            <a:r>
              <a:rPr sz="1300" b="0">
                <a:solidFill>
                  <a:srgbClr val="F8FAFC"/>
                </a:solidFill>
              </a:rPr>
              <a:t>•  Autonomous Diagnostic Triage: AI systems will perform initial diagnostic reviews prior to clinician oversight</a:t>
            </a:r>
          </a:p>
          <a:p>
            <a:pPr>
              <a:spcAft>
                <a:spcPts val="400"/>
              </a:spcAft>
            </a:pPr>
            <a:r>
              <a:rPr sz="1300" b="0">
                <a:solidFill>
                  <a:srgbClr val="F8FAFC"/>
                </a:solidFill>
              </a:rPr>
              <a:t>•  Hyper-Personalized Therapeutics: Genomic AI models will craft individualized treatment plans in real time</a:t>
            </a:r>
          </a:p>
          <a:p>
            <a:pPr>
              <a:spcAft>
                <a:spcPts val="400"/>
              </a:spcAft>
            </a:pPr>
            <a:r>
              <a:rPr sz="1300" b="0">
                <a:solidFill>
                  <a:srgbClr val="F8FAFC"/>
                </a:solidFill>
              </a:rPr>
              <a:t>•  Ubiquitous Ambient Intelligence: Smart hospital rooms and voice agents will eliminate manual EHR data entry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